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5"/>
  </p:notesMasterIdLst>
  <p:handoutMasterIdLst>
    <p:handoutMasterId r:id="rId46"/>
  </p:handoutMasterIdLst>
  <p:sldIdLst>
    <p:sldId id="256" r:id="rId2"/>
    <p:sldId id="290" r:id="rId3"/>
    <p:sldId id="356" r:id="rId4"/>
    <p:sldId id="350" r:id="rId5"/>
    <p:sldId id="315" r:id="rId6"/>
    <p:sldId id="333" r:id="rId7"/>
    <p:sldId id="317" r:id="rId8"/>
    <p:sldId id="314" r:id="rId9"/>
    <p:sldId id="318" r:id="rId10"/>
    <p:sldId id="319" r:id="rId11"/>
    <p:sldId id="320" r:id="rId12"/>
    <p:sldId id="321" r:id="rId13"/>
    <p:sldId id="324" r:id="rId14"/>
    <p:sldId id="323" r:id="rId15"/>
    <p:sldId id="343" r:id="rId16"/>
    <p:sldId id="344" r:id="rId17"/>
    <p:sldId id="345" r:id="rId18"/>
    <p:sldId id="349" r:id="rId19"/>
    <p:sldId id="351" r:id="rId20"/>
    <p:sldId id="352" r:id="rId21"/>
    <p:sldId id="357" r:id="rId22"/>
    <p:sldId id="353" r:id="rId23"/>
    <p:sldId id="354" r:id="rId24"/>
    <p:sldId id="355" r:id="rId25"/>
    <p:sldId id="346" r:id="rId26"/>
    <p:sldId id="347" r:id="rId27"/>
    <p:sldId id="348" r:id="rId28"/>
    <p:sldId id="326" r:id="rId29"/>
    <p:sldId id="316" r:id="rId30"/>
    <p:sldId id="325" r:id="rId31"/>
    <p:sldId id="327" r:id="rId32"/>
    <p:sldId id="328" r:id="rId33"/>
    <p:sldId id="329" r:id="rId34"/>
    <p:sldId id="330" r:id="rId35"/>
    <p:sldId id="331" r:id="rId36"/>
    <p:sldId id="332" r:id="rId37"/>
    <p:sldId id="334" r:id="rId38"/>
    <p:sldId id="336" r:id="rId39"/>
    <p:sldId id="335" r:id="rId40"/>
    <p:sldId id="337" r:id="rId41"/>
    <p:sldId id="338" r:id="rId42"/>
    <p:sldId id="339" r:id="rId43"/>
    <p:sldId id="342" r:id="rId4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033" autoAdjust="0"/>
  </p:normalViewPr>
  <p:slideViewPr>
    <p:cSldViewPr snapToGrid="0">
      <p:cViewPr varScale="1">
        <p:scale>
          <a:sx n="81" d="100"/>
          <a:sy n="81" d="100"/>
        </p:scale>
        <p:origin x="75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handoutMaster" Target="handoutMasters/handout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AA6BBC8-21A1-3C7C-BB5E-79DDD1E3315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8952CC2-8C2A-77F0-D23B-01B5C859293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905716-FF77-4C04-95E2-80BFA64D56D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1C76AB-CE7A-82EE-06B2-06820305E08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01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5471A5-50A9-59A8-C6DE-E6D8164E728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B5E072-D72A-4A05-81AE-5B169961D5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0913248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2A21A1-ADDB-4E33-950C-F0BAB0A7249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01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00D455-6D77-41DB-BB86-FD17B72B0F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98420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01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00D455-6D77-41DB-BB86-FD17B72B0F8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5310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01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00D455-6D77-41DB-BB86-FD17B72B0F86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8388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D2CC6AD-1634-D603-CAF7-E78458F3EA4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9336" y="0"/>
            <a:ext cx="12251336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9AC3842-5CE0-8979-B31D-6D2A646AC4D7}"/>
              </a:ext>
            </a:extLst>
          </p:cNvPr>
          <p:cNvSpPr/>
          <p:nvPr userDrawn="1"/>
        </p:nvSpPr>
        <p:spPr>
          <a:xfrm>
            <a:off x="167019" y="1091327"/>
            <a:ext cx="5548301" cy="193899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l"/>
            <a:r>
              <a:rPr lang="en-US" sz="6000" b="1" u="none" cap="none" spc="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Apex Seekers</a:t>
            </a:r>
          </a:p>
          <a:p>
            <a:pPr algn="l"/>
            <a:endParaRPr lang="en-US" sz="6000" b="1" u="none" cap="none" spc="0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E5D3760-82C8-7E8E-BF98-92DCB66E430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671005" t="-210851" r="671005" b="255382"/>
          <a:stretch/>
        </p:blipFill>
        <p:spPr>
          <a:xfrm>
            <a:off x="5715320" y="2645228"/>
            <a:ext cx="837560" cy="86949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0B2721D-098D-C25D-211F-90A40949A68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7830"/>
          <a:stretch/>
        </p:blipFill>
        <p:spPr>
          <a:xfrm>
            <a:off x="11354440" y="6049744"/>
            <a:ext cx="837560" cy="81778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2052167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4FCE5-B83C-EBEE-C377-3A0DCBC05D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13D3BD-7EE5-A590-8A97-F64226E277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E24849-09C7-8EE7-3BF7-5E99BEC55F6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F75E7B-0427-EECD-0A46-08FAA3E46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C01E45-97C3-4AF8-53E9-B0BF42E7A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A788467-90B6-487A-BCC8-FA333FE4D7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7479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6A02A-E26B-7A6B-B9F9-45FDF1C7A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19F843-0BC5-DF32-177D-C4B0A2DFE1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2E06E8-9EF4-A1A3-5862-5FB2A5104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492875"/>
            <a:ext cx="2743200" cy="365125"/>
          </a:xfrm>
          <a:prstGeom prst="rect">
            <a:avLst/>
          </a:prstGeom>
        </p:spPr>
        <p:txBody>
          <a:bodyPr/>
          <a:lstStyle/>
          <a:p>
            <a:fld id="{0A788467-90B6-487A-BCC8-FA333FE4D7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1128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2B023-6C19-1E1C-44AC-7DFE6CDF56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AC75BB-7EE3-F369-D0CB-98CA433FAD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96DFD2-0B6C-EA87-41FA-F0828C4918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58684A-5C55-7BF8-15FF-997C9837132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63EABD-1F72-056B-F481-03A6DBAC9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839C81-34FA-EF96-F566-DFE81D306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A788467-90B6-487A-BCC8-FA333FE4D7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6832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F6FE0E-50F0-3E1E-2B26-A45FA9BE3D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712815-5591-751B-782F-8D7F56D635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7B6694-5446-270B-9581-59E7D94AAA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FA2E6FB-65FF-E12D-1AF5-49FB780E59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49E7B9-2465-F615-4665-DD59414D4F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A3D30E9-C85A-3115-8AF0-9E1764A3006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C1543C-7475-1019-765C-D974CF043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A3F194F-0E13-80B6-3CCE-3A6ABAF4D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A788467-90B6-487A-BCC8-FA333FE4D7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1998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DD23A-C3EF-7639-50DA-14EBA84B2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FCCADA4-DF17-DA34-A0F8-496E73EF567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CCB147-5E3E-3DA8-1E13-F9133406D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DDFABD-658C-E237-7A6F-58A1691C7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A788467-90B6-487A-BCC8-FA333FE4D7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97810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BEF1BBE-21D4-42A3-B50B-CA043FE3869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CF4D2B-E157-590D-54B1-0A9E0FC65E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B0632B-50D0-41D1-E303-49FC0B332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A788467-90B6-487A-BCC8-FA333FE4D7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5909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5C98B0-BF8D-F5A5-3B14-FB736F2AD4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0F90F8-7AAC-201C-D41F-D091B496FB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D01CDA-ACEB-AEDB-31CE-12288013CC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222E2B-7964-9D04-8BE1-D4E5E1F158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DFF0EC-1E3B-4325-9908-27205E79F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BAAF6C-36B3-D504-96AE-E22AB168C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A788467-90B6-487A-BCC8-FA333FE4D7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8054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ECC22-EEA4-1617-7EE1-0436895F8A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F30E0B8-18BD-2A23-32AC-AC601BA045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BDFF94-AFB6-C793-0C2C-3C21F5F47B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5DCA0E-40CC-10BA-6A8E-3F056D45F4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F8E28F-4D37-3A1E-4966-FB29365BFB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BC59A0-C3A3-C197-437D-B31652EAF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A788467-90B6-487A-BCC8-FA333FE4D7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2817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00F12D-0A87-C478-11F9-71AB2CF78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C1CA44-B854-D36A-E726-80D8ABD3FB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8C9902-6394-64B7-0ED5-28ECFBB85F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A53B08-48B5-7302-CE93-D121C4A48C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32FAE4-DBA5-7D0E-50C9-9D70A01DC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A788467-90B6-487A-BCC8-FA333FE4D7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1240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F2A57F-283E-F049-9F13-ACD6D1E7AE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2C4C50-FB25-AEAD-9856-3409E97387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DC7294-835D-39EB-8B2D-0E3155CFA8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5CB37F-BFAB-5560-2853-6252137FFF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489E5A-369F-A385-212A-6AC911E2C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A788467-90B6-487A-BCC8-FA333FE4D7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6155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1_Section header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800" cy="11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algn="r"/>
            <a:fld id="{00000000-1234-1234-1234-123412341234}" type="slidenum">
              <a:rPr lang="en-GB" smtClean="0"/>
              <a:pPr algn="r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0173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8263C03D-5AB3-13F1-7F5D-987CBCF39C02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19150"/>
            <a:ext cx="12192000" cy="6038850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B62790-DE33-6C09-B17D-545C67BDF4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7DB8951-1772-05E9-FF0E-834FC495AA51}"/>
              </a:ext>
            </a:extLst>
          </p:cNvPr>
          <p:cNvSpPr/>
          <p:nvPr userDrawn="1"/>
        </p:nvSpPr>
        <p:spPr>
          <a:xfrm>
            <a:off x="0" y="0"/>
            <a:ext cx="12192000" cy="885825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81000"/>
                  <a:alpha val="53000"/>
                </a:schemeClr>
              </a:gs>
              <a:gs pos="38000">
                <a:schemeClr val="accent1">
                  <a:satMod val="110000"/>
                  <a:shade val="100000"/>
                  <a:lumMod val="44000"/>
                </a:schemeClr>
              </a:gs>
              <a:gs pos="100000">
                <a:schemeClr val="accent1">
                  <a:satMod val="120000"/>
                  <a:shade val="78000"/>
                  <a:lumMod val="90000"/>
                </a:schemeClr>
              </a:gs>
            </a:gsLst>
            <a:lin ang="8100000" scaled="1"/>
            <a:tileRect/>
          </a:gradFill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7B4AC4A-7088-6962-5EBB-A2EE148E76B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9523"/>
          <a:stretch/>
        </p:blipFill>
        <p:spPr>
          <a:xfrm>
            <a:off x="11353800" y="6066745"/>
            <a:ext cx="837560" cy="79125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0" name="Rectangle 1">
            <a:extLst>
              <a:ext uri="{FF2B5EF4-FFF2-40B4-BE49-F238E27FC236}">
                <a16:creationId xmlns:a16="http://schemas.microsoft.com/office/drawing/2014/main" id="{B27DD472-4C5D-9F23-F0D6-32BDBC571FA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D617B1-20AD-9793-CA15-0305E7349E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750" y="-20637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LEARNING JOURNEY</a:t>
            </a:r>
          </a:p>
        </p:txBody>
      </p:sp>
    </p:spTree>
    <p:extLst>
      <p:ext uri="{BB962C8B-B14F-4D97-AF65-F5344CB8AC3E}">
        <p14:creationId xmlns:p14="http://schemas.microsoft.com/office/powerpoint/2010/main" val="16149576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2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Georgia" panose="02040502050405020303" pitchFamily="18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119497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447256" y="68345"/>
            <a:ext cx="6629400" cy="732933"/>
          </a:xfr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+mj-lt"/>
                <a:cs typeface="Aharoni" pitchFamily="2" charset="-79"/>
              </a:rPr>
              <a:t>Java Editions</a:t>
            </a:r>
            <a:endParaRPr lang="en-IN" dirty="0">
              <a:solidFill>
                <a:schemeClr val="accent2">
                  <a:lumMod val="75000"/>
                </a:schemeClr>
              </a:solidFill>
              <a:latin typeface="+mj-lt"/>
              <a:cs typeface="Aharoni" pitchFamily="2" charset="-79"/>
            </a:endParaRPr>
          </a:p>
        </p:txBody>
      </p:sp>
      <p:pic>
        <p:nvPicPr>
          <p:cNvPr id="44034" name="Picture 2" descr="Related image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40645" y="966247"/>
            <a:ext cx="9341962" cy="506623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8722765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flipV="1">
            <a:off x="2133600" y="457200"/>
            <a:ext cx="6347713" cy="152400"/>
          </a:xfrm>
        </p:spPr>
        <p:txBody>
          <a:bodyPr>
            <a:normAutofit fontScale="90000"/>
          </a:bodyPr>
          <a:lstStyle/>
          <a:p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33599" y="533401"/>
            <a:ext cx="6347714" cy="5507963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95167" y="0"/>
            <a:ext cx="9401666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4E69C9C-D0B8-FACD-84E4-603B34CC7C3C}"/>
              </a:ext>
            </a:extLst>
          </p:cNvPr>
          <p:cNvSpPr txBox="1"/>
          <p:nvPr/>
        </p:nvSpPr>
        <p:spPr>
          <a:xfrm>
            <a:off x="2646574" y="2624522"/>
            <a:ext cx="616041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5400" dirty="0">
                <a:solidFill>
                  <a:srgbClr val="C00000"/>
                </a:solidFill>
              </a:rPr>
              <a:t>Data and Information</a:t>
            </a:r>
            <a:endParaRPr lang="en-IN" sz="5400" dirty="0"/>
          </a:p>
        </p:txBody>
      </p:sp>
    </p:spTree>
    <p:extLst>
      <p:ext uri="{BB962C8B-B14F-4D97-AF65-F5344CB8AC3E}">
        <p14:creationId xmlns:p14="http://schemas.microsoft.com/office/powerpoint/2010/main" val="29793233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D209CA0-8136-63F4-6BC1-705D145E94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035" y="200777"/>
            <a:ext cx="10515600" cy="960519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DATA AND INFORMATION</a:t>
            </a:r>
            <a:br>
              <a:rPr lang="en-US" sz="4000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D042A5-4CE6-5429-987B-EB2DE05AB6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5652" y="1161296"/>
            <a:ext cx="10515600" cy="4351338"/>
          </a:xfrm>
        </p:spPr>
        <p:txBody>
          <a:bodyPr/>
          <a:lstStyle/>
          <a:p>
            <a:r>
              <a:rPr lang="en-US" sz="2400" dirty="0">
                <a:solidFill>
                  <a:srgbClr val="C00000"/>
                </a:solidFill>
              </a:rPr>
              <a:t>Data and information </a:t>
            </a:r>
            <a:r>
              <a:rPr lang="en-US" sz="2400" dirty="0"/>
              <a:t>in an organization are used for the </a:t>
            </a:r>
            <a:r>
              <a:rPr lang="en-US" sz="2400" b="1" dirty="0"/>
              <a:t>analysis of relatively structured</a:t>
            </a:r>
            <a:r>
              <a:rPr lang="en-US" sz="2400" dirty="0"/>
              <a:t> and </a:t>
            </a:r>
            <a:r>
              <a:rPr lang="en-US" sz="2400" b="1" dirty="0"/>
              <a:t>unstructured</a:t>
            </a:r>
            <a:r>
              <a:rPr lang="en-US" sz="2400" dirty="0"/>
              <a:t> data and </a:t>
            </a:r>
            <a:r>
              <a:rPr lang="en-US" sz="2400" b="1" dirty="0"/>
              <a:t>semi structure.</a:t>
            </a:r>
            <a:endParaRPr lang="en-IN" sz="2400" b="1" dirty="0"/>
          </a:p>
          <a:p>
            <a:r>
              <a:rPr lang="en-US" sz="2400" dirty="0">
                <a:solidFill>
                  <a:srgbClr val="C00000"/>
                </a:solidFill>
              </a:rPr>
              <a:t>Unstructured data </a:t>
            </a:r>
            <a:r>
              <a:rPr lang="en-US" sz="2400" dirty="0"/>
              <a:t>is raw and unformatted, the kind of data that you find in a simple text document, where names, dates and other pieces of information are scattered throughout random paragraphs. </a:t>
            </a:r>
          </a:p>
          <a:p>
            <a:r>
              <a:rPr lang="en-US" sz="2400" i="0" dirty="0">
                <a:solidFill>
                  <a:srgbClr val="C00000"/>
                </a:solidFill>
                <a:effectLst/>
                <a:latin typeface="Calibri (Body)"/>
              </a:rPr>
              <a:t>Semi-structured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alibri (Body)"/>
              </a:rPr>
              <a:t> data is information that doesn’t consist of Structured data (relational database) but still has some structure to it.</a:t>
            </a:r>
          </a:p>
          <a:p>
            <a:endParaRPr lang="en-IN" sz="2400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8BADCC4-E4EC-747E-C5EC-02FFDCC6FB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4700" y="3764291"/>
            <a:ext cx="6080289" cy="3093709"/>
          </a:xfrm>
          <a:prstGeom prst="rect">
            <a:avLst/>
          </a:prstGeom>
        </p:spPr>
      </p:pic>
      <p:pic>
        <p:nvPicPr>
          <p:cNvPr id="3074" name="Picture 2" descr="What really is Unstructured Data? The ...">
            <a:extLst>
              <a:ext uri="{FF2B5EF4-FFF2-40B4-BE49-F238E27FC236}">
                <a16:creationId xmlns:a16="http://schemas.microsoft.com/office/drawing/2014/main" id="{62C54156-EB85-C5D7-9D69-B7E278DB39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035" y="4223209"/>
            <a:ext cx="4346402" cy="17607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5418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Unstructured, semi-structured, and structured data">
            <a:extLst>
              <a:ext uri="{FF2B5EF4-FFF2-40B4-BE49-F238E27FC236}">
                <a16:creationId xmlns:a16="http://schemas.microsoft.com/office/drawing/2014/main" id="{1A10BA05-9F33-7A25-B776-C8C2384BED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646" y="952400"/>
            <a:ext cx="10464422" cy="42025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Unstructured Data ...">
            <a:extLst>
              <a:ext uri="{FF2B5EF4-FFF2-40B4-BE49-F238E27FC236}">
                <a16:creationId xmlns:a16="http://schemas.microsoft.com/office/drawing/2014/main" id="{4B2039F1-ED09-2585-42EA-295CCDD4A4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7274" y="5154916"/>
            <a:ext cx="7051250" cy="1501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560103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difference between data and information">
            <a:extLst>
              <a:ext uri="{FF2B5EF4-FFF2-40B4-BE49-F238E27FC236}">
                <a16:creationId xmlns:a16="http://schemas.microsoft.com/office/drawing/2014/main" id="{6A4F394D-0135-CA8A-7F16-3DDE677BF8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110" y="61061"/>
            <a:ext cx="11322156" cy="67358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A9FE5AD-0EE6-8D38-2449-3553C26598CC}"/>
              </a:ext>
            </a:extLst>
          </p:cNvPr>
          <p:cNvSpPr txBox="1"/>
          <p:nvPr/>
        </p:nvSpPr>
        <p:spPr>
          <a:xfrm>
            <a:off x="1671537" y="5719721"/>
            <a:ext cx="9141007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US" sz="1600" b="1" i="0" dirty="0">
                <a:solidFill>
                  <a:srgbClr val="92275C"/>
                </a:solidFill>
                <a:effectLst/>
                <a:latin typeface="-apple-system"/>
              </a:rPr>
              <a:t>Examples of Information:</a:t>
            </a:r>
            <a:r>
              <a:rPr lang="en-US" sz="1600" b="0" i="0" dirty="0">
                <a:solidFill>
                  <a:srgbClr val="92275C"/>
                </a:solidFill>
                <a:effectLst/>
                <a:latin typeface="-apple-system"/>
              </a:rPr>
              <a:t> </a:t>
            </a:r>
            <a:r>
              <a:rPr lang="en-US" sz="1600" b="0" i="0" dirty="0">
                <a:solidFill>
                  <a:srgbClr val="4B4F58"/>
                </a:solidFill>
                <a:effectLst/>
                <a:latin typeface="-apple-system"/>
              </a:rPr>
              <a:t>“John lives at house No. 558 in New York.” “He can run 10 Kilometers a </a:t>
            </a:r>
          </a:p>
          <a:p>
            <a:pPr algn="l" fontAlgn="base"/>
            <a:r>
              <a:rPr lang="en-US" sz="1600" dirty="0">
                <a:solidFill>
                  <a:srgbClr val="4B4F58"/>
                </a:solidFill>
                <a:latin typeface="-apple-system"/>
              </a:rPr>
              <a:t>                                               </a:t>
            </a:r>
            <a:r>
              <a:rPr lang="en-US" sz="1600" b="0" i="0" dirty="0">
                <a:solidFill>
                  <a:srgbClr val="4B4F58"/>
                </a:solidFill>
                <a:effectLst/>
                <a:latin typeface="-apple-system"/>
              </a:rPr>
              <a:t>day.” “United States is a powerful country.”</a:t>
            </a:r>
          </a:p>
          <a:p>
            <a:pPr algn="l" fontAlgn="base"/>
            <a:endParaRPr lang="en-US" sz="1600" b="0" i="0" dirty="0">
              <a:solidFill>
                <a:srgbClr val="4B4F58"/>
              </a:solidFill>
              <a:effectLst/>
              <a:latin typeface="-apple-system"/>
            </a:endParaRPr>
          </a:p>
          <a:p>
            <a:pPr algn="l" fontAlgn="base"/>
            <a:r>
              <a:rPr lang="en-US" sz="1600" b="1" i="0" dirty="0">
                <a:solidFill>
                  <a:srgbClr val="92275C"/>
                </a:solidFill>
                <a:effectLst/>
                <a:latin typeface="-apple-system"/>
              </a:rPr>
              <a:t>Examples of Data:</a:t>
            </a:r>
            <a:r>
              <a:rPr lang="en-US" sz="1600" b="0" i="0" dirty="0">
                <a:solidFill>
                  <a:srgbClr val="92275C"/>
                </a:solidFill>
                <a:effectLst/>
                <a:latin typeface="-apple-system"/>
              </a:rPr>
              <a:t>   </a:t>
            </a:r>
            <a:r>
              <a:rPr lang="en-US" sz="1600" b="0" i="0" dirty="0">
                <a:solidFill>
                  <a:srgbClr val="4B4F58"/>
                </a:solidFill>
                <a:effectLst/>
                <a:latin typeface="-apple-system"/>
              </a:rPr>
              <a:t>John, 558, New York, United States, 10, Kilometers</a:t>
            </a:r>
          </a:p>
        </p:txBody>
      </p:sp>
    </p:spTree>
    <p:extLst>
      <p:ext uri="{BB962C8B-B14F-4D97-AF65-F5344CB8AC3E}">
        <p14:creationId xmlns:p14="http://schemas.microsoft.com/office/powerpoint/2010/main" val="42334352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D217B-F98E-73A4-5D46-7EB6F5D02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>
                <a:solidFill>
                  <a:srgbClr val="C00000"/>
                </a:solidFill>
              </a:rPr>
              <a:t>Data Base Management System (DBMS)</a:t>
            </a:r>
          </a:p>
        </p:txBody>
      </p:sp>
    </p:spTree>
    <p:extLst>
      <p:ext uri="{BB962C8B-B14F-4D97-AF65-F5344CB8AC3E}">
        <p14:creationId xmlns:p14="http://schemas.microsoft.com/office/powerpoint/2010/main" val="1908846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79882-D53A-B3E6-9767-6B7CD0F38E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616" y="236686"/>
            <a:ext cx="10515600" cy="969946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1"/>
                </a:solidFill>
              </a:rPr>
              <a:t>What is Database</a:t>
            </a:r>
            <a:br>
              <a:rPr lang="en-US" dirty="0">
                <a:solidFill>
                  <a:schemeClr val="bg1"/>
                </a:solidFill>
              </a:rPr>
            </a:b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9CF853-2A6B-584C-D48D-81720AA511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8517" y="1253331"/>
            <a:ext cx="10898172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A </a:t>
            </a:r>
            <a:r>
              <a:rPr lang="en-US" sz="2400" b="1" dirty="0">
                <a:solidFill>
                  <a:srgbClr val="C00000"/>
                </a:solidFill>
              </a:rPr>
              <a:t>database</a:t>
            </a:r>
            <a:r>
              <a:rPr lang="en-US" sz="2400" dirty="0"/>
              <a:t> is an organized </a:t>
            </a:r>
            <a:r>
              <a:rPr lang="en-US" sz="2400" dirty="0">
                <a:solidFill>
                  <a:srgbClr val="C00000"/>
                </a:solidFill>
              </a:rPr>
              <a:t>collection of data</a:t>
            </a:r>
            <a:r>
              <a:rPr lang="en-US" sz="2400" dirty="0"/>
              <a:t>, so that it can be easily accessed and managed.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It is also used to </a:t>
            </a:r>
            <a:r>
              <a:rPr lang="en-US" sz="2400" dirty="0">
                <a:solidFill>
                  <a:srgbClr val="C00000"/>
                </a:solidFill>
              </a:rPr>
              <a:t>organize the data </a:t>
            </a:r>
            <a:r>
              <a:rPr lang="en-US" sz="2400" dirty="0"/>
              <a:t>in the form of </a:t>
            </a:r>
            <a:r>
              <a:rPr lang="en-US" sz="2000" dirty="0"/>
              <a:t>data into </a:t>
            </a:r>
            <a:r>
              <a:rPr lang="en-US" sz="2000" dirty="0">
                <a:solidFill>
                  <a:srgbClr val="C00000"/>
                </a:solidFill>
              </a:rPr>
              <a:t>tables, rows, columns, and index </a:t>
            </a:r>
            <a:r>
              <a:rPr lang="en-US" sz="2000" dirty="0"/>
              <a:t>it to make it easier to find relevant information.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The </a:t>
            </a:r>
            <a:r>
              <a:rPr lang="en-US" sz="2400" b="1" dirty="0">
                <a:solidFill>
                  <a:srgbClr val="C00000"/>
                </a:solidFill>
              </a:rPr>
              <a:t>main purpose</a:t>
            </a:r>
            <a:r>
              <a:rPr lang="en-US" sz="2400" dirty="0">
                <a:solidFill>
                  <a:srgbClr val="C00000"/>
                </a:solidFill>
              </a:rPr>
              <a:t> </a:t>
            </a:r>
            <a:r>
              <a:rPr lang="en-US" sz="2400" dirty="0"/>
              <a:t>of the database is to operate a large amount of information by </a:t>
            </a:r>
            <a:r>
              <a:rPr lang="en-US" sz="2400" dirty="0">
                <a:solidFill>
                  <a:srgbClr val="C00000"/>
                </a:solidFill>
              </a:rPr>
              <a:t>storing, retrieving, and managing data</a:t>
            </a:r>
            <a:endParaRPr lang="en-IN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527832-0A27-1BD5-8FEC-330965D01442}"/>
              </a:ext>
            </a:extLst>
          </p:cNvPr>
          <p:cNvSpPr txBox="1"/>
          <p:nvPr/>
        </p:nvSpPr>
        <p:spPr>
          <a:xfrm>
            <a:off x="1081725" y="3758992"/>
            <a:ext cx="6940485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000" dirty="0" err="1"/>
              <a:t>Eg</a:t>
            </a:r>
            <a:r>
              <a:rPr lang="en-US" sz="2000" dirty="0"/>
              <a:t>:    </a:t>
            </a:r>
            <a:r>
              <a:rPr lang="en-US" sz="2000" dirty="0">
                <a:solidFill>
                  <a:srgbClr val="C00000"/>
                </a:solidFill>
              </a:rPr>
              <a:t>College or University Database </a:t>
            </a:r>
            <a:r>
              <a:rPr lang="en-US" sz="2000" dirty="0"/>
              <a:t>organizes the data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      	   Admin</a:t>
            </a:r>
          </a:p>
          <a:p>
            <a:pPr marL="0" indent="0">
              <a:buNone/>
            </a:pPr>
            <a:r>
              <a:rPr lang="en-US" sz="2000" dirty="0"/>
              <a:t>         	   Staff</a:t>
            </a:r>
          </a:p>
          <a:p>
            <a:pPr marL="0" indent="0">
              <a:buNone/>
            </a:pPr>
            <a:r>
              <a:rPr lang="en-US" sz="2000" dirty="0"/>
              <a:t>         	   Student</a:t>
            </a:r>
          </a:p>
          <a:p>
            <a:pPr marL="0" indent="0">
              <a:buNone/>
            </a:pPr>
            <a:r>
              <a:rPr lang="en-US" sz="2000" dirty="0"/>
              <a:t>                  Faculty </a:t>
            </a:r>
          </a:p>
          <a:p>
            <a:pPr marL="0" indent="0">
              <a:buNone/>
            </a:pPr>
            <a:r>
              <a:rPr lang="en-US" sz="2000" dirty="0"/>
              <a:t>   </a:t>
            </a:r>
          </a:p>
          <a:p>
            <a:pPr>
              <a:buFont typeface="Wingdings" pitchFamily="2" charset="2"/>
              <a:buChar char="Ø"/>
            </a:pPr>
            <a:r>
              <a:rPr lang="en-US" sz="2000" dirty="0"/>
              <a:t>       </a:t>
            </a:r>
            <a:r>
              <a:rPr lang="en-US" sz="2000" dirty="0">
                <a:solidFill>
                  <a:srgbClr val="FF0000"/>
                </a:solidFill>
              </a:rPr>
              <a:t>Data</a:t>
            </a:r>
            <a:r>
              <a:rPr lang="en-US" sz="2000" dirty="0"/>
              <a:t> is related to any object like</a:t>
            </a:r>
          </a:p>
          <a:p>
            <a:pPr marL="0" indent="0">
              <a:buNone/>
            </a:pPr>
            <a:r>
              <a:rPr lang="en-US" sz="2000" dirty="0"/>
              <a:t>           </a:t>
            </a:r>
            <a:r>
              <a:rPr lang="en-US" sz="2000" dirty="0" err="1"/>
              <a:t>st_Id,st_name</a:t>
            </a:r>
            <a:r>
              <a:rPr lang="en-US" sz="2000" dirty="0"/>
              <a:t>, </a:t>
            </a:r>
            <a:r>
              <a:rPr lang="en-US" sz="2000" dirty="0" err="1"/>
              <a:t>st_age,image,file</a:t>
            </a:r>
            <a:r>
              <a:rPr lang="en-US" sz="2000" dirty="0"/>
              <a:t> </a:t>
            </a:r>
            <a:r>
              <a:rPr lang="en-US" sz="2000" dirty="0" err="1"/>
              <a:t>etc</a:t>
            </a:r>
            <a:r>
              <a:rPr lang="en-US" sz="2000" dirty="0"/>
              <a:t>…</a:t>
            </a:r>
            <a:endParaRPr lang="en-IN" sz="2000" dirty="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3434BE26-C99B-E6CE-093F-EC73DC7338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2721" y="3856568"/>
            <a:ext cx="3075679" cy="23659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69464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14218-B731-64D0-623D-45C0208CA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946371-1EB8-1C97-2EFF-D622EF8FA8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21F8C44-69F2-16DA-E0AB-9F5838E53F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126" y="934206"/>
            <a:ext cx="11540965" cy="4989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25070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AB4EB8-78BE-DE20-FD2A-D06AA5B165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031" y="18255"/>
            <a:ext cx="10515600" cy="1325563"/>
          </a:xfrm>
        </p:spPr>
        <p:txBody>
          <a:bodyPr/>
          <a:lstStyle/>
          <a:p>
            <a:r>
              <a:rPr lang="en-US" sz="4000" dirty="0">
                <a:solidFill>
                  <a:schemeClr val="bg1"/>
                </a:solidFill>
              </a:rPr>
              <a:t>What is RDBMS</a:t>
            </a:r>
            <a:br>
              <a:rPr lang="en-IN" sz="4000" dirty="0">
                <a:solidFill>
                  <a:schemeClr val="bg1"/>
                </a:solidFill>
              </a:rPr>
            </a:b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A6DD53-7A04-D09F-6DB8-3A563D8C43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913" y="1343818"/>
            <a:ext cx="11099277" cy="4773138"/>
          </a:xfrm>
        </p:spPr>
        <p:txBody>
          <a:bodyPr>
            <a:normAutofit fontScale="85000" lnSpcReduction="100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800" b="1" dirty="0"/>
              <a:t>RDBMS</a:t>
            </a:r>
            <a:r>
              <a:rPr lang="en-US" sz="2800" dirty="0"/>
              <a:t> stands for </a:t>
            </a:r>
            <a:r>
              <a:rPr lang="en-US" sz="2800" i="1" dirty="0">
                <a:solidFill>
                  <a:srgbClr val="92275C"/>
                </a:solidFill>
              </a:rPr>
              <a:t>Relational Database Management Systems</a:t>
            </a:r>
            <a:r>
              <a:rPr lang="en-US" sz="2800" i="1" dirty="0">
                <a:solidFill>
                  <a:srgbClr val="FF0000"/>
                </a:solidFill>
              </a:rPr>
              <a:t>.</a:t>
            </a:r>
          </a:p>
          <a:p>
            <a:pPr>
              <a:buFont typeface="Wingdings" panose="05000000000000000000" pitchFamily="2" charset="2"/>
              <a:buChar char="v"/>
            </a:pPr>
            <a:endParaRPr lang="en-US" sz="2800" dirty="0">
              <a:solidFill>
                <a:srgbClr val="FF0000"/>
              </a:solidFill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/>
              <a:t>All modern database management systems like </a:t>
            </a:r>
            <a:r>
              <a:rPr lang="en-US" sz="2800" dirty="0">
                <a:solidFill>
                  <a:srgbClr val="92275C"/>
                </a:solidFill>
              </a:rPr>
              <a:t>SQL, MS SQL Server, IBM DB2, ORACLE, My-SQL </a:t>
            </a:r>
            <a:r>
              <a:rPr lang="en-US" sz="2800" dirty="0"/>
              <a:t>and Microsoft Access are based on </a:t>
            </a:r>
            <a:r>
              <a:rPr lang="en-US" sz="2800" dirty="0">
                <a:solidFill>
                  <a:srgbClr val="92275C"/>
                </a:solidFill>
              </a:rPr>
              <a:t>RDBMS.</a:t>
            </a:r>
            <a:r>
              <a:rPr lang="en-US" sz="2800" dirty="0"/>
              <a:t>  because it is based on </a:t>
            </a:r>
            <a:r>
              <a:rPr lang="en-US" sz="2800" dirty="0">
                <a:solidFill>
                  <a:srgbClr val="92275C"/>
                </a:solidFill>
              </a:rPr>
              <a:t>relational model </a:t>
            </a:r>
            <a:r>
              <a:rPr lang="en-US" sz="2800" dirty="0">
                <a:solidFill>
                  <a:srgbClr val="002060"/>
                </a:solidFill>
              </a:rPr>
              <a:t>introduced by E.F. Codd</a:t>
            </a:r>
            <a:r>
              <a:rPr lang="en-US" sz="2800" dirty="0"/>
              <a:t>.</a:t>
            </a:r>
          </a:p>
          <a:p>
            <a:pPr>
              <a:buFont typeface="Wingdings" panose="05000000000000000000" pitchFamily="2" charset="2"/>
              <a:buChar char="v"/>
            </a:pPr>
            <a:endParaRPr lang="en-US" sz="2800" dirty="0"/>
          </a:p>
          <a:p>
            <a:pPr marL="0" indent="0">
              <a:buNone/>
            </a:pPr>
            <a:r>
              <a:rPr lang="en-US" sz="3200" dirty="0">
                <a:solidFill>
                  <a:srgbClr val="92275C"/>
                </a:solidFill>
              </a:rPr>
              <a:t>How it works:</a:t>
            </a:r>
          </a:p>
          <a:p>
            <a:pPr>
              <a:buFont typeface="Wingdings" panose="05000000000000000000" pitchFamily="2" charset="2"/>
              <a:buChar char="v"/>
            </a:pPr>
            <a:endParaRPr lang="en-US" sz="3200" dirty="0">
              <a:solidFill>
                <a:srgbClr val="92275C"/>
              </a:solidFill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/>
              <a:t>Data is represented in terms of in RDBMS.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/>
              <a:t>It contains </a:t>
            </a:r>
            <a:r>
              <a:rPr lang="en-US" sz="2800" dirty="0">
                <a:solidFill>
                  <a:srgbClr val="92275C"/>
                </a:solidFill>
              </a:rPr>
              <a:t>number of tables </a:t>
            </a:r>
            <a:r>
              <a:rPr lang="en-US" sz="2800" dirty="0"/>
              <a:t>and each </a:t>
            </a:r>
            <a:r>
              <a:rPr lang="en-US" sz="2800" dirty="0">
                <a:solidFill>
                  <a:srgbClr val="92275C"/>
                </a:solidFill>
              </a:rPr>
              <a:t>tuples (rows) able has its own primary key</a:t>
            </a:r>
            <a:r>
              <a:rPr lang="en-US" sz="2800" dirty="0">
                <a:solidFill>
                  <a:srgbClr val="FF0000"/>
                </a:solidFill>
              </a:rPr>
              <a:t>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/>
              <a:t>Due to a collection of organized set of tables, data can be accessed easily in RDBMS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658535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ifference between DBMS and RDBMS">
            <a:extLst>
              <a:ext uri="{FF2B5EF4-FFF2-40B4-BE49-F238E27FC236}">
                <a16:creationId xmlns:a16="http://schemas.microsoft.com/office/drawing/2014/main" id="{2AA68796-9B69-D0FF-5505-618063DD96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5464" y="848781"/>
            <a:ext cx="9661753" cy="51604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D401801-3FA3-FD5F-C250-2B04844C3C18}"/>
              </a:ext>
            </a:extLst>
          </p:cNvPr>
          <p:cNvSpPr txBox="1"/>
          <p:nvPr/>
        </p:nvSpPr>
        <p:spPr>
          <a:xfrm>
            <a:off x="676373" y="135039"/>
            <a:ext cx="6160416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DBMS VS RDBMS</a:t>
            </a:r>
            <a:br>
              <a:rPr lang="en-IN" sz="2400" dirty="0">
                <a:solidFill>
                  <a:schemeClr val="bg1"/>
                </a:solidFill>
              </a:rPr>
            </a:b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1332457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20CD539-8A4E-60D5-B8F0-0CD296FA94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575" y="919821"/>
            <a:ext cx="12018850" cy="4198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34117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C0FC15F-5D00-038F-642D-791A5F0F98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9345" y="883763"/>
            <a:ext cx="8858822" cy="509047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24D95E4-9FF5-45E7-BD78-367F53A6F65A}"/>
              </a:ext>
            </a:extLst>
          </p:cNvPr>
          <p:cNvSpPr txBox="1"/>
          <p:nvPr/>
        </p:nvSpPr>
        <p:spPr>
          <a:xfrm>
            <a:off x="751788" y="215973"/>
            <a:ext cx="616041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Relation Data Structure</a:t>
            </a:r>
          </a:p>
        </p:txBody>
      </p:sp>
    </p:spTree>
    <p:extLst>
      <p:ext uri="{BB962C8B-B14F-4D97-AF65-F5344CB8AC3E}">
        <p14:creationId xmlns:p14="http://schemas.microsoft.com/office/powerpoint/2010/main" val="13800307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1080768-B888-8E29-3062-1C7F8D1AAC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7213" y="1178396"/>
            <a:ext cx="6530049" cy="2243132"/>
          </a:xfrm>
        </p:spPr>
        <p:txBody>
          <a:bodyPr>
            <a:normAutofit/>
          </a:bodyPr>
          <a:lstStyle/>
          <a:p>
            <a:endParaRPr lang="en-IN" sz="5400" dirty="0">
              <a:solidFill>
                <a:srgbClr val="C00000"/>
              </a:solidFill>
            </a:endParaRPr>
          </a:p>
        </p:txBody>
      </p:sp>
      <p:pic>
        <p:nvPicPr>
          <p:cNvPr id="2050" name="Picture 2" descr="SQL VS NOSQL DATABASE">
            <a:extLst>
              <a:ext uri="{FF2B5EF4-FFF2-40B4-BE49-F238E27FC236}">
                <a16:creationId xmlns:a16="http://schemas.microsoft.com/office/drawing/2014/main" id="{25A271CB-31E1-FC9C-3877-8E8E8641B3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5598" y="945112"/>
            <a:ext cx="10120804" cy="53013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29665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AA2ACAA-531E-BCAE-ED7D-7325480107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8518" y="1052627"/>
            <a:ext cx="10515600" cy="4351338"/>
          </a:xfrm>
        </p:spPr>
        <p:txBody>
          <a:bodyPr/>
          <a:lstStyle/>
          <a:p>
            <a:r>
              <a:rPr lang="en-US" b="1" dirty="0"/>
              <a:t>SQL</a:t>
            </a:r>
            <a:r>
              <a:rPr lang="en-US" dirty="0"/>
              <a:t> stands for </a:t>
            </a:r>
            <a:r>
              <a:rPr lang="en-US" b="1" dirty="0"/>
              <a:t>Structured Query Language</a:t>
            </a:r>
            <a:r>
              <a:rPr lang="en-US" dirty="0"/>
              <a:t>.</a:t>
            </a:r>
          </a:p>
          <a:p>
            <a:r>
              <a:rPr lang="en-US" dirty="0"/>
              <a:t>It's used in </a:t>
            </a:r>
            <a:r>
              <a:rPr lang="en-US" b="1" dirty="0"/>
              <a:t>Relational Databases</a:t>
            </a:r>
            <a:r>
              <a:rPr lang="en-US" dirty="0"/>
              <a:t> (like MySQL, Oracle).</a:t>
            </a:r>
          </a:p>
          <a:p>
            <a:r>
              <a:rPr lang="en-US" dirty="0"/>
              <a:t>Data is stored in </a:t>
            </a:r>
            <a:r>
              <a:rPr lang="en-US" b="1" dirty="0"/>
              <a:t>tables</a:t>
            </a:r>
            <a:r>
              <a:rPr lang="en-US" dirty="0"/>
              <a:t> (like Excel sheets).</a:t>
            </a:r>
          </a:p>
          <a:p>
            <a:r>
              <a:rPr lang="en-US" dirty="0"/>
              <a:t>Tables have </a:t>
            </a:r>
            <a:r>
              <a:rPr lang="en-US" b="1" dirty="0"/>
              <a:t>rows and columns</a:t>
            </a:r>
            <a:r>
              <a:rPr lang="en-US" dirty="0"/>
              <a:t>.</a:t>
            </a:r>
          </a:p>
          <a:p>
            <a:r>
              <a:rPr lang="en-US" dirty="0"/>
              <a:t>You need to define the </a:t>
            </a:r>
            <a:r>
              <a:rPr lang="en-US" b="1" dirty="0"/>
              <a:t>structure (schema)</a:t>
            </a:r>
            <a:r>
              <a:rPr lang="en-US" dirty="0"/>
              <a:t> before adding data.</a:t>
            </a:r>
          </a:p>
          <a:p>
            <a:endParaRPr lang="en-IN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F2DC9BC-E22A-7614-695C-C5A6D1F055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7539285"/>
              </p:ext>
            </p:extLst>
          </p:nvPr>
        </p:nvGraphicFramePr>
        <p:xfrm>
          <a:off x="564822" y="4942089"/>
          <a:ext cx="10515600" cy="109728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1581227913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09854996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34936943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Roll 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/>
                        <a:t>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334366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101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Ravi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855804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dirty="0"/>
                        <a:t>102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Priya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0323655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1B1026BF-25BD-882F-DD1B-5E57EBAE05BC}"/>
              </a:ext>
            </a:extLst>
          </p:cNvPr>
          <p:cNvSpPr txBox="1"/>
          <p:nvPr/>
        </p:nvSpPr>
        <p:spPr>
          <a:xfrm>
            <a:off x="1007882" y="4122019"/>
            <a:ext cx="61604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Imagine a </a:t>
            </a:r>
            <a:r>
              <a:rPr lang="en-US" sz="2400" b="1" dirty="0"/>
              <a:t>school student list</a:t>
            </a:r>
            <a:r>
              <a:rPr lang="en-US" sz="2400" dirty="0"/>
              <a:t>:</a:t>
            </a:r>
            <a:endParaRPr lang="en-IN" sz="2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F619285-AEA7-F57A-E8A7-4448C06FB27D}"/>
              </a:ext>
            </a:extLst>
          </p:cNvPr>
          <p:cNvSpPr txBox="1"/>
          <p:nvPr/>
        </p:nvSpPr>
        <p:spPr>
          <a:xfrm>
            <a:off x="668518" y="186722"/>
            <a:ext cx="616041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</a:rPr>
              <a:t>What is SQL?</a:t>
            </a:r>
          </a:p>
        </p:txBody>
      </p:sp>
    </p:spTree>
    <p:extLst>
      <p:ext uri="{BB962C8B-B14F-4D97-AF65-F5344CB8AC3E}">
        <p14:creationId xmlns:p14="http://schemas.microsoft.com/office/powerpoint/2010/main" val="42567903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3159C-1F4E-18A1-B2FC-D4181655A0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361" y="198978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What is NoSQL?</a:t>
            </a:r>
            <a:br>
              <a:rPr lang="en-US" dirty="0">
                <a:solidFill>
                  <a:schemeClr val="bg1"/>
                </a:solidFill>
              </a:rPr>
            </a:b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BBFC9F3-81F6-B1CE-3F51-CC3A0E9AFD1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17725" y="1339218"/>
            <a:ext cx="11158390" cy="25442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NoSQL</a:t>
            </a:r>
            <a:r>
              <a:rPr lang="en-US" dirty="0"/>
              <a:t> means </a:t>
            </a:r>
            <a:r>
              <a:rPr lang="en-US" b="1" dirty="0"/>
              <a:t>Not Only SQL</a:t>
            </a:r>
            <a:r>
              <a:rPr lang="en-US" dirty="0"/>
              <a:t>.</a:t>
            </a:r>
          </a:p>
          <a:p>
            <a:r>
              <a:rPr lang="en-US" dirty="0"/>
              <a:t>It's used in </a:t>
            </a:r>
            <a:r>
              <a:rPr lang="en-US" b="1" dirty="0"/>
              <a:t>Non-Relational Databases</a:t>
            </a:r>
            <a:r>
              <a:rPr lang="en-US" dirty="0"/>
              <a:t> (like MongoDB).</a:t>
            </a:r>
          </a:p>
          <a:p>
            <a:r>
              <a:rPr lang="en-US" dirty="0"/>
              <a:t>Data is stored in </a:t>
            </a:r>
            <a:r>
              <a:rPr lang="en-US" b="1" dirty="0"/>
              <a:t>documents</a:t>
            </a:r>
            <a:r>
              <a:rPr lang="en-US" dirty="0"/>
              <a:t> (like Word or JSON files).</a:t>
            </a:r>
          </a:p>
          <a:p>
            <a:r>
              <a:rPr lang="en-US" dirty="0"/>
              <a:t> Data is </a:t>
            </a:r>
            <a:r>
              <a:rPr lang="en-US" b="1" dirty="0"/>
              <a:t>unstructured or semi-structured</a:t>
            </a:r>
            <a:r>
              <a:rPr lang="en-US" dirty="0"/>
              <a:t> (like JSON, key-value pairs)</a:t>
            </a:r>
          </a:p>
          <a:p>
            <a:r>
              <a:rPr lang="en-US" dirty="0"/>
              <a:t>Stores </a:t>
            </a:r>
            <a:r>
              <a:rPr lang="en-US" b="1" dirty="0"/>
              <a:t>large, changing, or real-time data </a:t>
            </a:r>
            <a:r>
              <a:rPr lang="en-US" dirty="0"/>
              <a:t>quickly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6F42E3B-FDF1-4E7B-35EA-BD840C92935E}"/>
              </a:ext>
            </a:extLst>
          </p:cNvPr>
          <p:cNvSpPr txBox="1"/>
          <p:nvPr/>
        </p:nvSpPr>
        <p:spPr>
          <a:xfrm>
            <a:off x="635524" y="3893270"/>
            <a:ext cx="7735478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/>
              <a:t>Example:</a:t>
            </a:r>
          </a:p>
          <a:p>
            <a:r>
              <a:rPr lang="en-IN" sz="2400" b="1" dirty="0"/>
              <a:t>Imagine a WhatsApp chat / </a:t>
            </a:r>
            <a:r>
              <a:rPr lang="en-IN" sz="2400" dirty="0"/>
              <a:t>Instagram / Facebook Posts </a:t>
            </a:r>
            <a:endParaRPr lang="en-IN" sz="2400" b="1" dirty="0"/>
          </a:p>
          <a:p>
            <a:endParaRPr lang="en-IN" sz="2000" dirty="0"/>
          </a:p>
          <a:p>
            <a:r>
              <a:rPr lang="en-IN" sz="2000" dirty="0"/>
              <a:t> {</a:t>
            </a:r>
          </a:p>
          <a:p>
            <a:r>
              <a:rPr lang="en-IN" sz="2000" dirty="0"/>
              <a:t>  "name": "Ravi",</a:t>
            </a:r>
          </a:p>
          <a:p>
            <a:r>
              <a:rPr lang="en-IN" sz="2000" dirty="0"/>
              <a:t>  "message": "Hi",</a:t>
            </a:r>
          </a:p>
          <a:p>
            <a:r>
              <a:rPr lang="en-IN" sz="2000" dirty="0"/>
              <a:t>  "time": "10:01 AM"</a:t>
            </a:r>
          </a:p>
          <a:p>
            <a:r>
              <a:rPr lang="en-IN" sz="2000" dirty="0"/>
              <a:t>}</a:t>
            </a:r>
          </a:p>
          <a:p>
            <a:r>
              <a:rPr lang="en-IN" sz="2000" dirty="0"/>
              <a:t>This is NoSQL – flexible like a conversation log.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328175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064FE-0DA3-F753-55A0-6AE6EC66A4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130489-7B10-6109-4B32-05445F9EC7EF}"/>
              </a:ext>
            </a:extLst>
          </p:cNvPr>
          <p:cNvSpPr txBox="1"/>
          <p:nvPr/>
        </p:nvSpPr>
        <p:spPr>
          <a:xfrm>
            <a:off x="971941" y="961782"/>
            <a:ext cx="10594747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SQL = Like Excel Sheets</a:t>
            </a:r>
            <a:r>
              <a:rPr lang="en-US" sz="2800" dirty="0"/>
              <a:t> (</a:t>
            </a:r>
            <a:r>
              <a:rPr lang="en-US" sz="2800" dirty="0">
                <a:solidFill>
                  <a:srgbClr val="FF0000"/>
                </a:solidFill>
              </a:rPr>
              <a:t>organized, rows and columns</a:t>
            </a:r>
            <a:r>
              <a:rPr lang="en-US" sz="2800" dirty="0"/>
              <a:t>)</a:t>
            </a:r>
          </a:p>
          <a:p>
            <a:r>
              <a:rPr lang="en-US" sz="2400" b="1" dirty="0"/>
              <a:t>Information can be extracted using SQL queries:</a:t>
            </a:r>
          </a:p>
          <a:p>
            <a:r>
              <a:rPr lang="en-US" sz="2400" dirty="0"/>
              <a:t> SELECT Name, Class FROM Students WHERE Age &gt; 14;</a:t>
            </a:r>
          </a:p>
          <a:p>
            <a:pPr marL="342900" indent="-342900">
              <a:buFont typeface="Wingdings" panose="05000000000000000000" pitchFamily="2" charset="2"/>
              <a:buChar char="n"/>
            </a:pPr>
            <a:r>
              <a:rPr lang="en-US" sz="2400" dirty="0"/>
              <a:t>Output: Ravi | 10</a:t>
            </a:r>
          </a:p>
          <a:p>
            <a:pPr marL="342900" indent="-342900">
              <a:buFont typeface="Wingdings" panose="05000000000000000000" pitchFamily="2" charset="2"/>
              <a:buChar char="n"/>
            </a:pPr>
            <a:endParaRPr lang="en-US" sz="2400" dirty="0"/>
          </a:p>
          <a:p>
            <a:r>
              <a:rPr lang="en-US" sz="2400" b="1" dirty="0"/>
              <a:t>Suitable for:</a:t>
            </a:r>
          </a:p>
          <a:p>
            <a:r>
              <a:rPr lang="en-US" sz="2400" dirty="0"/>
              <a:t>Attendance system ,Fee </a:t>
            </a:r>
            <a:r>
              <a:rPr lang="en-US" sz="2400" dirty="0" err="1"/>
              <a:t>management,Exam</a:t>
            </a:r>
            <a:r>
              <a:rPr lang="en-US" sz="2400" dirty="0"/>
              <a:t> results</a:t>
            </a:r>
          </a:p>
          <a:p>
            <a:endParaRPr lang="en-US" sz="2400" dirty="0"/>
          </a:p>
          <a:p>
            <a:r>
              <a:rPr lang="en-US" sz="2800" b="1" dirty="0"/>
              <a:t>NoSQL = Like WhatsApp Messages</a:t>
            </a:r>
            <a:r>
              <a:rPr lang="en-US" sz="2800" dirty="0"/>
              <a:t> (flexible, fast, different every time)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92C1B7-043C-DB39-3F5A-C7E9EA16A9E0}"/>
              </a:ext>
            </a:extLst>
          </p:cNvPr>
          <p:cNvSpPr txBox="1"/>
          <p:nvPr/>
        </p:nvSpPr>
        <p:spPr>
          <a:xfrm>
            <a:off x="1120414" y="3916437"/>
            <a:ext cx="968093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2800" b="1" dirty="0"/>
          </a:p>
          <a:p>
            <a:r>
              <a:rPr lang="en-US" sz="2800" b="1" dirty="0"/>
              <a:t>Information</a:t>
            </a:r>
            <a:r>
              <a:rPr lang="en-US" sz="2800" dirty="0"/>
              <a:t> is read from this document directly, no joins needed.</a:t>
            </a:r>
            <a:endParaRPr lang="en-IN" sz="2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1AFCD6-9CA0-9C55-83CC-DB709236E56A}"/>
              </a:ext>
            </a:extLst>
          </p:cNvPr>
          <p:cNvSpPr txBox="1"/>
          <p:nvPr/>
        </p:nvSpPr>
        <p:spPr>
          <a:xfrm>
            <a:off x="1357851" y="4870544"/>
            <a:ext cx="6160416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800" b="1" dirty="0"/>
              <a:t>Suitable for: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IN" sz="2800" dirty="0"/>
              <a:t>Chat applications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IN" sz="2800" dirty="0"/>
              <a:t>Social media feeds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IN" sz="2800" dirty="0"/>
              <a:t>Product reviews</a:t>
            </a:r>
          </a:p>
        </p:txBody>
      </p:sp>
    </p:spTree>
    <p:extLst>
      <p:ext uri="{BB962C8B-B14F-4D97-AF65-F5344CB8AC3E}">
        <p14:creationId xmlns:p14="http://schemas.microsoft.com/office/powerpoint/2010/main" val="25821625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1C8302-4BE2-21C5-3428-333A9FB22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026" name="Picture 2" descr="SQL vs NOSQL (The CAP Theorem) | Shishir Kumar Technology Blog">
            <a:extLst>
              <a:ext uri="{FF2B5EF4-FFF2-40B4-BE49-F238E27FC236}">
                <a16:creationId xmlns:a16="http://schemas.microsoft.com/office/drawing/2014/main" id="{D4733CEA-8657-A328-D2CD-BE0486E20B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804" y="761460"/>
            <a:ext cx="11294391" cy="50957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315584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1704990-6863-3D98-12D3-E2A14FA6B5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8059" y="0"/>
            <a:ext cx="9242364" cy="363874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8BF04FB-E6E9-C883-D430-451BE5EB6B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9055" y="3714160"/>
            <a:ext cx="9483366" cy="2542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53692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orizontal and Vertical Scaling | dangduonghung">
            <a:extLst>
              <a:ext uri="{FF2B5EF4-FFF2-40B4-BE49-F238E27FC236}">
                <a16:creationId xmlns:a16="http://schemas.microsoft.com/office/drawing/2014/main" id="{EE249660-A62C-4D6B-EB04-D36283F7A0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0526" y="0"/>
            <a:ext cx="8722335" cy="4506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ECF68DC-1972-4EDE-FCE2-F8F50BE2EB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0466" y="4389596"/>
            <a:ext cx="5806911" cy="2468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69886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7C3C829-027D-3D82-2E39-B0B4D40B90B2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1898174"/>
          <a:ext cx="10515600" cy="420624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349663135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81569146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63474285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26589091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Industry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Company / Application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Database Used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Real-Time Usage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10822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Social Media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Instagram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PostgreSQL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Real-time feed generation, stories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91690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E-commerce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Shopify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MySQL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Real-time order processing, inventory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77999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Streaming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Netflix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MySQL (via Vitess)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Video metadata, payments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92103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Travel / Booking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Booking.com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PostgreSQL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Real-time availability and pricing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40658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Finance / Banking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Goldman Sachs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Microsoft SQL Server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Real-time transaction records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5633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Enterprise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Stack Overflow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SQL Server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Real-time Q&amp;A search and updates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3424086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9E5513DC-BA4F-032B-FB75-E63A61CF5C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873335"/>
            <a:ext cx="216726" cy="5078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AE1E414-950D-B390-2735-6EC843C254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3219004"/>
              </p:ext>
            </p:extLst>
          </p:nvPr>
        </p:nvGraphicFramePr>
        <p:xfrm>
          <a:off x="838200" y="1898174"/>
          <a:ext cx="10515600" cy="420624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277392709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73070410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33087368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53182538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Industry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Company / Application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Database Used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Real-Time Usage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75223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Social Media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Instagram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PostgreSQL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Real-time feed generation, stories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57634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E-commerce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Shopify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MySQL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Real-time order processing, inventory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01291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Streaming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Netflix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MySQL (via Vitess)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Video metadata, payments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28592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Travel / Booking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Booking.com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PostgreSQL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Real-time availability and pricing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578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Finance / Banking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Goldman Sachs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Microsoft SQL Server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Real-time transaction records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44112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Enterprise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Stack Overflow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SQL Server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Real-time Q&amp;A search and updates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4025576"/>
                  </a:ext>
                </a:extLst>
              </a:tr>
            </a:tbl>
          </a:graphicData>
        </a:graphic>
      </p:graphicFrame>
      <p:sp>
        <p:nvSpPr>
          <p:cNvPr id="7" name="Rectangle 2">
            <a:extLst>
              <a:ext uri="{FF2B5EF4-FFF2-40B4-BE49-F238E27FC236}">
                <a16:creationId xmlns:a16="http://schemas.microsoft.com/office/drawing/2014/main" id="{8AF272D8-DBA9-BC52-143E-53BCAD7C446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85750" y="25522"/>
            <a:ext cx="10198946" cy="8617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SQL Databases in Real-Time Industry Applications</a:t>
            </a:r>
            <a:endParaRPr kumimoji="0" lang="en-US" altLang="en-US" sz="9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72270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BAE668-74FC-A807-43AD-511509298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749" y="-206375"/>
            <a:ext cx="11422341" cy="1325563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NoSQL Databases in Real-Time Industry Applications</a:t>
            </a:r>
            <a:endParaRPr lang="en-IN" sz="3200" dirty="0">
              <a:solidFill>
                <a:schemeClr val="bg1"/>
              </a:solidFill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049DC66-D580-2961-827B-810EA26B3FE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74079075"/>
              </p:ext>
            </p:extLst>
          </p:nvPr>
        </p:nvGraphicFramePr>
        <p:xfrm>
          <a:off x="895546" y="1326005"/>
          <a:ext cx="10558020" cy="5103078"/>
        </p:xfrm>
        <a:graphic>
          <a:graphicData uri="http://schemas.openxmlformats.org/drawingml/2006/table">
            <a:tbl>
              <a:tblPr/>
              <a:tblGrid>
                <a:gridCol w="2639505">
                  <a:extLst>
                    <a:ext uri="{9D8B030D-6E8A-4147-A177-3AD203B41FA5}">
                      <a16:colId xmlns:a16="http://schemas.microsoft.com/office/drawing/2014/main" val="3588210497"/>
                    </a:ext>
                  </a:extLst>
                </a:gridCol>
                <a:gridCol w="2639505">
                  <a:extLst>
                    <a:ext uri="{9D8B030D-6E8A-4147-A177-3AD203B41FA5}">
                      <a16:colId xmlns:a16="http://schemas.microsoft.com/office/drawing/2014/main" val="4188996849"/>
                    </a:ext>
                  </a:extLst>
                </a:gridCol>
                <a:gridCol w="2639505">
                  <a:extLst>
                    <a:ext uri="{9D8B030D-6E8A-4147-A177-3AD203B41FA5}">
                      <a16:colId xmlns:a16="http://schemas.microsoft.com/office/drawing/2014/main" val="616343437"/>
                    </a:ext>
                  </a:extLst>
                </a:gridCol>
                <a:gridCol w="2639505">
                  <a:extLst>
                    <a:ext uri="{9D8B030D-6E8A-4147-A177-3AD203B41FA5}">
                      <a16:colId xmlns:a16="http://schemas.microsoft.com/office/drawing/2014/main" val="2968582241"/>
                    </a:ext>
                  </a:extLst>
                </a:gridCol>
              </a:tblGrid>
              <a:tr h="3581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Industry</a:t>
                      </a:r>
                      <a:endParaRPr lang="en-IN" sz="1800"/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Company / Application</a:t>
                      </a:r>
                      <a:endParaRPr lang="en-IN" sz="1800"/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Database Used</a:t>
                      </a:r>
                      <a:endParaRPr lang="en-IN" sz="1800"/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/>
                        <a:t>Real-Time Usage</a:t>
                      </a:r>
                      <a:endParaRPr lang="en-IN" sz="1800" dirty="0"/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3125926"/>
                  </a:ext>
                </a:extLst>
              </a:tr>
              <a:tr h="6266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/>
                        <a:t>Ride-Sharing</a:t>
                      </a:r>
                      <a:endParaRPr lang="en-IN" sz="1500"/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Uber</a:t>
                      </a: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MongoDB + Cassandra</a:t>
                      </a: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Real-time trip tracking, pricing</a:t>
                      </a: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8039748"/>
                  </a:ext>
                </a:extLst>
              </a:tr>
              <a:tr h="6266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/>
                        <a:t>Social Media</a:t>
                      </a:r>
                      <a:endParaRPr lang="en-IN" sz="1500"/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Snapchat</a:t>
                      </a: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Cassandra</a:t>
                      </a: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Real-time messaging &amp; media</a:t>
                      </a: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1390700"/>
                  </a:ext>
                </a:extLst>
              </a:tr>
              <a:tr h="3581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/>
                        <a:t>Search / Analytics</a:t>
                      </a:r>
                      <a:endParaRPr lang="en-IN" sz="1500"/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GitHub</a:t>
                      </a: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Elasticsearch</a:t>
                      </a: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Real-time code search</a:t>
                      </a: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450786"/>
                  </a:ext>
                </a:extLst>
              </a:tr>
              <a:tr h="6266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/>
                        <a:t>Online Ads</a:t>
                      </a:r>
                      <a:endParaRPr lang="en-IN" sz="1500"/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Meta (Facebook Ads)</a:t>
                      </a: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RocksDB, Cassandra</a:t>
                      </a: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Real-time ad bidding and targeting</a:t>
                      </a: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0339847"/>
                  </a:ext>
                </a:extLst>
              </a:tr>
              <a:tr h="6266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/>
                        <a:t>Gaming</a:t>
                      </a:r>
                      <a:endParaRPr lang="en-IN" sz="1500"/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Discord</a:t>
                      </a: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Redis + Cassandra</a:t>
                      </a: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Real-time chat &amp; presence tracking</a:t>
                      </a: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0777214"/>
                  </a:ext>
                </a:extLst>
              </a:tr>
              <a:tr h="6266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/>
                        <a:t>News / Media</a:t>
                      </a:r>
                      <a:endParaRPr lang="en-IN" sz="1500"/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The New York Times</a:t>
                      </a: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Firebase Realtime DB</a:t>
                      </a: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Real-time updates to readers</a:t>
                      </a: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8807451"/>
                  </a:ext>
                </a:extLst>
              </a:tr>
              <a:tr h="6266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/>
                        <a:t>E-commerce</a:t>
                      </a:r>
                      <a:endParaRPr lang="en-IN" sz="1500"/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Amazon</a:t>
                      </a: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DynamoDB</a:t>
                      </a: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Real-time shopping cart, inventory</a:t>
                      </a: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3373872"/>
                  </a:ext>
                </a:extLst>
              </a:tr>
              <a:tr h="6266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 dirty="0"/>
                        <a:t>Monitoring / DevOps</a:t>
                      </a:r>
                      <a:endParaRPr lang="en-IN" sz="1500" dirty="0"/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Netflix (monitoring stack)</a:t>
                      </a: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Elasticsearch</a:t>
                      </a: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/>
                        <a:t>Real-time log analysis (via ELK)</a:t>
                      </a:r>
                    </a:p>
                  </a:txBody>
                  <a:tcPr marL="76339" marR="76339" marT="38170" marB="381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6172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985503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4D835-7042-1487-5044-68080170C0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bg1"/>
                </a:solidFill>
              </a:rPr>
              <a:t>Both SQL vs NoSQL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3F9AF4D-C38F-D820-FBA1-41A58E382E9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79531222"/>
              </p:ext>
            </p:extLst>
          </p:nvPr>
        </p:nvGraphicFramePr>
        <p:xfrm>
          <a:off x="743932" y="2148840"/>
          <a:ext cx="10515600" cy="259080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1592536385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83752821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 dirty="0"/>
                        <a:t>Use Case</a:t>
                      </a:r>
                      <a:endParaRPr lang="en-IN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dirty="0"/>
                        <a:t>Best Real-Time DBs Used in Industry</a:t>
                      </a:r>
                      <a:endParaRPr lang="en-US" sz="2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47017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Real-time messaging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Cassandra, Redis (Snapchat, Discord)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38402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Real-time search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Elasticsearch (GitHub, Wikipedia)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44501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Real-time analytics/dashboard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PostgreSQL, Elasticsearch, MongoDB (Uber, Netflix)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3703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Real-time transactions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MySQL, SQL Server, DynamoDB (Shopify, Amazon)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74168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Real-time location tracking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Cassandra, MongoDB (Uber)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76319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Real-time sync (mobile/web)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Firebase (NYT, Trivago)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49471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22337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32F7C1-59F1-9C60-6C82-1C47A3886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>
                <a:solidFill>
                  <a:schemeClr val="bg1"/>
                </a:solidFill>
              </a:rPr>
              <a:t>Scenario 1: School Management System (SQL)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70C5AB6-C973-9138-560E-6D360F9B9A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90650" y="750968"/>
            <a:ext cx="8418136" cy="6012763"/>
          </a:xfrm>
        </p:spPr>
      </p:pic>
    </p:spTree>
    <p:extLst>
      <p:ext uri="{BB962C8B-B14F-4D97-AF65-F5344CB8AC3E}">
        <p14:creationId xmlns:p14="http://schemas.microsoft.com/office/powerpoint/2010/main" val="127827749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B6463-E2E4-6274-3727-44DAA94C6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>
                <a:solidFill>
                  <a:schemeClr val="bg1"/>
                </a:solidFill>
              </a:rPr>
              <a:t>Scenario 2: Instagram / Facebook Posts (NoSQL)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9C69993-91C9-B633-9F45-0D9C7F93CC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98863" y="727309"/>
            <a:ext cx="8804634" cy="6130691"/>
          </a:xfrm>
        </p:spPr>
      </p:pic>
    </p:spTree>
    <p:extLst>
      <p:ext uri="{BB962C8B-B14F-4D97-AF65-F5344CB8AC3E}">
        <p14:creationId xmlns:p14="http://schemas.microsoft.com/office/powerpoint/2010/main" val="51385917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04219-C259-25A9-5BAE-AEA5975CA1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>
                <a:solidFill>
                  <a:schemeClr val="bg1"/>
                </a:solidFill>
              </a:rPr>
              <a:t>Scenario 2: Instagram / Facebook Posts (NoSQL)</a:t>
            </a:r>
            <a:endParaRPr lang="en-IN" sz="3200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BB89C9D-C381-F4F9-1284-5068B909C3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58253" y="3129698"/>
            <a:ext cx="9614927" cy="4062646"/>
          </a:xfr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F08A3FC-D3DF-4509-9B7E-C0C1641CC3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1991" y="894753"/>
            <a:ext cx="5544927" cy="2234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576600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80022-FF0E-2D74-4D50-409E016681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7346" y="2499118"/>
            <a:ext cx="10515600" cy="1325563"/>
          </a:xfrm>
        </p:spPr>
        <p:txBody>
          <a:bodyPr/>
          <a:lstStyle/>
          <a:p>
            <a:r>
              <a:rPr lang="en-IN" dirty="0">
                <a:solidFill>
                  <a:srgbClr val="C00000"/>
                </a:solidFill>
              </a:rPr>
              <a:t>Configuration and Install of MYSQL </a:t>
            </a:r>
          </a:p>
        </p:txBody>
      </p:sp>
    </p:spTree>
    <p:extLst>
      <p:ext uri="{BB962C8B-B14F-4D97-AF65-F5344CB8AC3E}">
        <p14:creationId xmlns:p14="http://schemas.microsoft.com/office/powerpoint/2010/main" val="219010822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D5B753D-E688-B4B4-D816-0739DD530C69}"/>
              </a:ext>
            </a:extLst>
          </p:cNvPr>
          <p:cNvSpPr txBox="1"/>
          <p:nvPr/>
        </p:nvSpPr>
        <p:spPr>
          <a:xfrm>
            <a:off x="2505173" y="6146276"/>
            <a:ext cx="46026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https://dev.mysql.com/downloads/workbench/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CE7FD40-9603-7A18-625A-3E2AB8FA60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814" y="904973"/>
            <a:ext cx="10346215" cy="562730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276435F-6BA1-CE46-5CDE-29A6671004FA}"/>
              </a:ext>
            </a:extLst>
          </p:cNvPr>
          <p:cNvSpPr txBox="1"/>
          <p:nvPr/>
        </p:nvSpPr>
        <p:spPr>
          <a:xfrm>
            <a:off x="2005551" y="342392"/>
            <a:ext cx="714787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solidFill>
                  <a:schemeClr val="bg1"/>
                </a:solidFill>
              </a:rPr>
              <a:t>https://dev.mysql.com/downloads/workbench/</a:t>
            </a:r>
          </a:p>
        </p:txBody>
      </p:sp>
    </p:spTree>
    <p:extLst>
      <p:ext uri="{BB962C8B-B14F-4D97-AF65-F5344CB8AC3E}">
        <p14:creationId xmlns:p14="http://schemas.microsoft.com/office/powerpoint/2010/main" val="141935802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Lightbox">
            <a:extLst>
              <a:ext uri="{FF2B5EF4-FFF2-40B4-BE49-F238E27FC236}">
                <a16:creationId xmlns:a16="http://schemas.microsoft.com/office/drawing/2014/main" id="{F98DD1ED-760C-6C19-309E-0B3BF39056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204" y="1245225"/>
            <a:ext cx="5761796" cy="4062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379D8E1-03E9-5B75-0528-E5C6F9E2F416}"/>
              </a:ext>
            </a:extLst>
          </p:cNvPr>
          <p:cNvSpPr txBox="1"/>
          <p:nvPr/>
        </p:nvSpPr>
        <p:spPr>
          <a:xfrm>
            <a:off x="1034592" y="240675"/>
            <a:ext cx="61604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i="0" dirty="0">
                <a:solidFill>
                  <a:schemeClr val="bg1"/>
                </a:solidFill>
                <a:effectLst/>
                <a:latin typeface="Nunito" pitchFamily="2" charset="0"/>
              </a:rPr>
              <a:t>Step 2: Go to the Downloads Section</a:t>
            </a:r>
            <a:br>
              <a:rPr lang="en-US" sz="1800" b="1" i="0" dirty="0">
                <a:solidFill>
                  <a:schemeClr val="bg1"/>
                </a:solidFill>
                <a:effectLst/>
                <a:latin typeface="Nunito" pitchFamily="2" charset="0"/>
              </a:rPr>
            </a:br>
            <a:endParaRPr lang="en-IN" dirty="0"/>
          </a:p>
        </p:txBody>
      </p:sp>
      <p:pic>
        <p:nvPicPr>
          <p:cNvPr id="4098" name="Picture 2" descr="Download-MySQL_3">
            <a:extLst>
              <a:ext uri="{FF2B5EF4-FFF2-40B4-BE49-F238E27FC236}">
                <a16:creationId xmlns:a16="http://schemas.microsoft.com/office/drawing/2014/main" id="{0D177B88-5F53-695E-E397-A66DAE9B21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7182" y="1724025"/>
            <a:ext cx="4924425" cy="1704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4181110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B7B18-1FFB-6FE3-7DA7-666B754C53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603" y="171690"/>
            <a:ext cx="10083735" cy="846405"/>
          </a:xfrm>
        </p:spPr>
        <p:txBody>
          <a:bodyPr>
            <a:normAutofit fontScale="90000"/>
          </a:bodyPr>
          <a:lstStyle/>
          <a:p>
            <a:pPr fontAlgn="base">
              <a:spcBef>
                <a:spcPts val="1800"/>
              </a:spcBef>
              <a:spcAft>
                <a:spcPts val="1800"/>
              </a:spcAft>
            </a:pPr>
            <a:r>
              <a:rPr lang="en-US" b="1" i="0" dirty="0">
                <a:solidFill>
                  <a:schemeClr val="bg1"/>
                </a:solidFill>
                <a:effectLst/>
                <a:latin typeface="Nunito" pitchFamily="2" charset="0"/>
              </a:rPr>
              <a:t> </a:t>
            </a:r>
            <a:r>
              <a:rPr lang="en-US" sz="2000" b="1" i="0" dirty="0">
                <a:solidFill>
                  <a:schemeClr val="bg1"/>
                </a:solidFill>
                <a:effectLst/>
                <a:latin typeface="Nunito" pitchFamily="2" charset="0"/>
              </a:rPr>
              <a:t>Step 4: Choose Setup Type</a:t>
            </a:r>
            <a:br>
              <a:rPr lang="en-US" sz="1400" b="1" i="0" dirty="0">
                <a:solidFill>
                  <a:srgbClr val="273239"/>
                </a:solidFill>
                <a:effectLst/>
                <a:latin typeface="Nunito" pitchFamily="2" charset="0"/>
              </a:rPr>
            </a:br>
            <a:endParaRPr lang="en-IN" sz="3200" dirty="0">
              <a:solidFill>
                <a:schemeClr val="bg1"/>
              </a:solidFill>
            </a:endParaRPr>
          </a:p>
        </p:txBody>
      </p:sp>
      <p:pic>
        <p:nvPicPr>
          <p:cNvPr id="4100" name="Picture 4" descr="Lightbox">
            <a:extLst>
              <a:ext uri="{FF2B5EF4-FFF2-40B4-BE49-F238E27FC236}">
                <a16:creationId xmlns:a16="http://schemas.microsoft.com/office/drawing/2014/main" id="{99E94783-C601-16E4-A8D3-3F2CCDB6AB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1829" y="933473"/>
            <a:ext cx="7399659" cy="55710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173356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C35B75-2827-0E11-CF2B-F94C012D5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b="1" i="0" dirty="0">
                <a:solidFill>
                  <a:schemeClr val="bg1"/>
                </a:solidFill>
                <a:effectLst/>
                <a:latin typeface="Nunito" pitchFamily="2" charset="0"/>
              </a:rPr>
              <a:t>Step 5: Check Requirements</a:t>
            </a:r>
            <a:br>
              <a:rPr lang="en-IN" sz="2800" b="1" i="0" dirty="0">
                <a:solidFill>
                  <a:schemeClr val="bg1"/>
                </a:solidFill>
                <a:effectLst/>
                <a:latin typeface="Nunito" pitchFamily="2" charset="0"/>
              </a:rPr>
            </a:br>
            <a:endParaRPr lang="en-IN" sz="2800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18582D-28EC-6258-05CC-283BDE7951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122" name="Picture 2" descr="Download-MySQL_4">
            <a:extLst>
              <a:ext uri="{FF2B5EF4-FFF2-40B4-BE49-F238E27FC236}">
                <a16:creationId xmlns:a16="http://schemas.microsoft.com/office/drawing/2014/main" id="{232B7B1B-3B07-FAB5-83C4-FA6A499018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8677" y="901383"/>
            <a:ext cx="7514489" cy="56643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1027842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C6F423-7B65-B1F5-A1F5-E1A4E700E0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030" y="217831"/>
            <a:ext cx="10515600" cy="1325563"/>
          </a:xfrm>
        </p:spPr>
        <p:txBody>
          <a:bodyPr>
            <a:normAutofit fontScale="90000"/>
          </a:bodyPr>
          <a:lstStyle/>
          <a:p>
            <a:pPr fontAlgn="base">
              <a:spcBef>
                <a:spcPts val="1800"/>
              </a:spcBef>
              <a:spcAft>
                <a:spcPts val="1800"/>
              </a:spcAft>
            </a:pPr>
            <a:r>
              <a:rPr lang="en-IN" b="1" i="0" dirty="0">
                <a:solidFill>
                  <a:schemeClr val="bg1"/>
                </a:solidFill>
                <a:effectLst/>
                <a:latin typeface="Nunito" pitchFamily="2" charset="0"/>
              </a:rPr>
              <a:t>Step 6: MySQL Downloading</a:t>
            </a:r>
            <a:br>
              <a:rPr lang="en-IN" b="1" i="0" dirty="0">
                <a:solidFill>
                  <a:schemeClr val="bg1"/>
                </a:solidFill>
                <a:effectLst/>
                <a:latin typeface="Nunito" pitchFamily="2" charset="0"/>
              </a:rPr>
            </a:br>
            <a:br>
              <a:rPr lang="en-IN" dirty="0">
                <a:solidFill>
                  <a:schemeClr val="bg1"/>
                </a:solidFill>
              </a:rPr>
            </a:br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6146" name="Picture 2" descr="Download-MySQL_5">
            <a:extLst>
              <a:ext uri="{FF2B5EF4-FFF2-40B4-BE49-F238E27FC236}">
                <a16:creationId xmlns:a16="http://schemas.microsoft.com/office/drawing/2014/main" id="{8265A3D1-F98F-60AB-A19E-749B0AFC400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7421" y="924596"/>
            <a:ext cx="6826679" cy="51462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9295582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D2933-2377-0C1C-CCF7-2FB4A217AB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896" y="18255"/>
            <a:ext cx="10515600" cy="1325563"/>
          </a:xfrm>
        </p:spPr>
        <p:txBody>
          <a:bodyPr/>
          <a:lstStyle/>
          <a:p>
            <a:r>
              <a:rPr lang="en-IN" b="1" i="0" dirty="0">
                <a:solidFill>
                  <a:schemeClr val="bg1"/>
                </a:solidFill>
                <a:effectLst/>
                <a:latin typeface="Nunito" pitchFamily="2" charset="0"/>
              </a:rPr>
              <a:t>Step 7: </a:t>
            </a:r>
            <a:r>
              <a:rPr lang="en-IN" b="1" i="0" dirty="0" err="1">
                <a:solidFill>
                  <a:schemeClr val="bg1"/>
                </a:solidFill>
                <a:effectLst/>
                <a:latin typeface="Nunito" pitchFamily="2" charset="0"/>
              </a:rPr>
              <a:t>MySqL</a:t>
            </a:r>
            <a:r>
              <a:rPr lang="en-IN" b="1" i="0" dirty="0">
                <a:solidFill>
                  <a:schemeClr val="bg1"/>
                </a:solidFill>
                <a:effectLst/>
                <a:latin typeface="Nunito" pitchFamily="2" charset="0"/>
              </a:rPr>
              <a:t> Installation</a:t>
            </a:r>
            <a:br>
              <a:rPr lang="en-IN" b="1" i="0" dirty="0">
                <a:solidFill>
                  <a:schemeClr val="bg1"/>
                </a:solidFill>
                <a:effectLst/>
                <a:latin typeface="Nunito" pitchFamily="2" charset="0"/>
              </a:rPr>
            </a:br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7170" name="Picture 2" descr="Download-MySQL_6">
            <a:extLst>
              <a:ext uri="{FF2B5EF4-FFF2-40B4-BE49-F238E27FC236}">
                <a16:creationId xmlns:a16="http://schemas.microsoft.com/office/drawing/2014/main" id="{4C6981C5-3D25-C7AA-9220-580AA36DCB2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9224" y="939504"/>
            <a:ext cx="6275408" cy="47354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1493599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1B3D6-EC09-C425-E632-ECC4DD2A02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9189" y="95283"/>
            <a:ext cx="10515600" cy="1325563"/>
          </a:xfrm>
        </p:spPr>
        <p:txBody>
          <a:bodyPr/>
          <a:lstStyle/>
          <a:p>
            <a:r>
              <a:rPr lang="en-US" b="1" i="0" dirty="0">
                <a:solidFill>
                  <a:schemeClr val="bg1"/>
                </a:solidFill>
                <a:effectLst/>
                <a:latin typeface="Nunito" pitchFamily="2" charset="0"/>
              </a:rPr>
              <a:t>Step 9: Create MySQL Accounts</a:t>
            </a:r>
            <a:br>
              <a:rPr lang="en-US" b="1" i="0" dirty="0">
                <a:solidFill>
                  <a:schemeClr val="bg1"/>
                </a:solidFill>
                <a:effectLst/>
                <a:latin typeface="Nunito" pitchFamily="2" charset="0"/>
              </a:rPr>
            </a:br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8194" name="Picture 2" descr="Download-MySql_7">
            <a:extLst>
              <a:ext uri="{FF2B5EF4-FFF2-40B4-BE49-F238E27FC236}">
                <a16:creationId xmlns:a16="http://schemas.microsoft.com/office/drawing/2014/main" id="{90511EAF-1D4D-377D-4BDE-025FAEA3E32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9804" y="1005493"/>
            <a:ext cx="5787932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586169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8D277-8574-2539-4269-B2F6A7C7F6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323" y="-93253"/>
            <a:ext cx="10515600" cy="1325563"/>
          </a:xfrm>
        </p:spPr>
        <p:txBody>
          <a:bodyPr/>
          <a:lstStyle/>
          <a:p>
            <a:r>
              <a:rPr lang="en-US" b="1" i="0" dirty="0">
                <a:solidFill>
                  <a:schemeClr val="bg1"/>
                </a:solidFill>
                <a:effectLst/>
                <a:latin typeface="Nunito" pitchFamily="2" charset="0"/>
              </a:rPr>
              <a:t>Step 10: Connect To Server</a:t>
            </a:r>
            <a:br>
              <a:rPr lang="en-US" b="1" i="0" dirty="0">
                <a:solidFill>
                  <a:schemeClr val="bg1"/>
                </a:solidFill>
                <a:effectLst/>
                <a:latin typeface="Nunito" pitchFamily="2" charset="0"/>
              </a:rPr>
            </a:br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9218" name="Picture 2" descr="MySql-(1)">
            <a:extLst>
              <a:ext uri="{FF2B5EF4-FFF2-40B4-BE49-F238E27FC236}">
                <a16:creationId xmlns:a16="http://schemas.microsoft.com/office/drawing/2014/main" id="{A152D17B-B0BC-977A-F9FD-E9032B75AB4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1953" y="986639"/>
            <a:ext cx="5764340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7558947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C814CC8-1600-6DFC-9F82-88D894E1B5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313" y="892372"/>
            <a:ext cx="10330818" cy="5414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566596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>
            <a:extLst>
              <a:ext uri="{FF2B5EF4-FFF2-40B4-BE49-F238E27FC236}">
                <a16:creationId xmlns:a16="http://schemas.microsoft.com/office/drawing/2014/main" id="{61B61912-9E65-708E-2A0B-7B73C5B4B9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7344" y="274710"/>
            <a:ext cx="4724400" cy="5456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F87FC94-57C3-7237-0B80-0C4B4067C7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2684" y="1491373"/>
            <a:ext cx="6935168" cy="4591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005053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AB5B24-AA90-E037-71AE-A5B1F92404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D59B33E-DEE7-BCF7-3D2E-F0AAB49729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149" y="870776"/>
            <a:ext cx="10221651" cy="5116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440705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EAA03-CC23-5157-EF98-4651A2391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C27A11-4894-F045-77B0-7E7A577912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5B74EA4-AAEC-85CD-0372-3B08A83985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219" y="981758"/>
            <a:ext cx="10701385" cy="5195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74631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85145-5F12-FA13-7340-380E3DBAE6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D86CE88-4EEF-D267-37AE-0661DE2B49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815" y="926134"/>
            <a:ext cx="9275842" cy="5333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101046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D40384-FF78-63F4-48A4-8507E394B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C72CBC-2932-9100-D421-C9270414D8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D60606E-90B6-CBDD-F749-B0A1DBD694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689" y="909529"/>
            <a:ext cx="9099068" cy="569669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4C6CC32-6ED7-ED26-657D-F91F22F34A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1550" y="2695149"/>
            <a:ext cx="2346406" cy="2335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584206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21313-DD1A-9EDF-783A-8DD81DCC7F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C9E6C99-F5F3-3779-12B7-2AE869ADCD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9310" y="2486550"/>
            <a:ext cx="5477300" cy="386169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17275E6-5F4E-2C3A-9AA8-33EDFF972C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6271" y="1577109"/>
            <a:ext cx="2019582" cy="80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11880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les Presentation" id="{88106A9F-17D8-45CC-97CF-533AC869E6A5}" vid="{ED94DA75-3826-48E7-9F99-5ABE9B17F2F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Sales Presentation</Template>
  <TotalTime>3223</TotalTime>
  <Words>1073</Words>
  <Application>Microsoft Office PowerPoint</Application>
  <PresentationFormat>Widescreen</PresentationFormat>
  <Paragraphs>209</Paragraphs>
  <Slides>43</Slides>
  <Notes>2</Notes>
  <HiddenSlides>7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53" baseType="lpstr">
      <vt:lpstr>-apple-system</vt:lpstr>
      <vt:lpstr>Arial</vt:lpstr>
      <vt:lpstr>Calibri</vt:lpstr>
      <vt:lpstr>Calibri (Body)</vt:lpstr>
      <vt:lpstr>Courier New</vt:lpstr>
      <vt:lpstr>Georgia</vt:lpstr>
      <vt:lpstr>Nunito</vt:lpstr>
      <vt:lpstr>Open Sans</vt:lpstr>
      <vt:lpstr>Wingdings</vt:lpstr>
      <vt:lpstr>Office Theme</vt:lpstr>
      <vt:lpstr>PowerPoint Presentation</vt:lpstr>
      <vt:lpstr>Java Editions</vt:lpstr>
      <vt:lpstr>PowerPoint Presentation</vt:lpstr>
      <vt:lpstr>PowerPoint Presentation</vt:lpstr>
      <vt:lpstr>DATA AND INFORMATION </vt:lpstr>
      <vt:lpstr>PowerPoint Presentation</vt:lpstr>
      <vt:lpstr>PowerPoint Presentation</vt:lpstr>
      <vt:lpstr>Data Base Management System (DBMS)</vt:lpstr>
      <vt:lpstr>What is Database </vt:lpstr>
      <vt:lpstr>PowerPoint Presentation</vt:lpstr>
      <vt:lpstr>What is RDBMS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What is NoSQL? </vt:lpstr>
      <vt:lpstr>PowerPoint Presentation</vt:lpstr>
      <vt:lpstr>PowerPoint Presentation</vt:lpstr>
      <vt:lpstr>PowerPoint Presentation</vt:lpstr>
      <vt:lpstr>PowerPoint Presentation</vt:lpstr>
      <vt:lpstr> SQL Databases in Real-Time Industry Applications </vt:lpstr>
      <vt:lpstr>NoSQL Databases in Real-Time Industry Applications</vt:lpstr>
      <vt:lpstr>Both SQL vs NoSQL</vt:lpstr>
      <vt:lpstr>Scenario 1: School Management System (SQL)</vt:lpstr>
      <vt:lpstr>Scenario 2: Instagram / Facebook Posts (NoSQL)</vt:lpstr>
      <vt:lpstr>Scenario 2: Instagram / Facebook Posts (NoSQL)</vt:lpstr>
      <vt:lpstr>Configuration and Install of MYSQL </vt:lpstr>
      <vt:lpstr>PowerPoint Presentation</vt:lpstr>
      <vt:lpstr>PowerPoint Presentation</vt:lpstr>
      <vt:lpstr> Step 4: Choose Setup Type </vt:lpstr>
      <vt:lpstr>Step 5: Check Requirements </vt:lpstr>
      <vt:lpstr>Step 6: MySQL Downloading  </vt:lpstr>
      <vt:lpstr>Step 7: MySqL Installation </vt:lpstr>
      <vt:lpstr>Step 9: Create MySQL Accounts </vt:lpstr>
      <vt:lpstr>Step 10: Connect To Server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Arsh Banerjee</dc:creator>
  <cp:lastModifiedBy>Jayaprakash Subramaniam - Adjunct Faculty (WD)</cp:lastModifiedBy>
  <cp:revision>398</cp:revision>
  <dcterms:created xsi:type="dcterms:W3CDTF">2024-08-17T13:13:57Z</dcterms:created>
  <dcterms:modified xsi:type="dcterms:W3CDTF">2025-11-04T05:25:40Z</dcterms:modified>
</cp:coreProperties>
</file>